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Public Sans Thin" charset="1" panose="00000000000000000000"/>
      <p:regular r:id="rId23"/>
    </p:embeddedFont>
    <p:embeddedFont>
      <p:font typeface="Public Sans Bold" charset="1" panose="00000000000000000000"/>
      <p:regular r:id="rId24"/>
    </p:embeddedFont>
    <p:embeddedFont>
      <p:font typeface="Public Sans" charset="1" panose="000000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kaggle.com/datasets" TargetMode="External" Type="http://schemas.openxmlformats.org/officeDocument/2006/relationships/hyperlink"/><Relationship Id="rId3" Target="https://chatgpt.com/pt-BR/overview/?utm_source=chatgpt.com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A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142210">
            <a:off x="13955596" y="-2306868"/>
            <a:ext cx="8028719" cy="6671135"/>
          </a:xfrm>
          <a:custGeom>
            <a:avLst/>
            <a:gdLst/>
            <a:ahLst/>
            <a:cxnLst/>
            <a:rect r="r" b="b" t="t" l="l"/>
            <a:pathLst>
              <a:path h="6671135" w="8028719">
                <a:moveTo>
                  <a:pt x="0" y="0"/>
                </a:moveTo>
                <a:lnTo>
                  <a:pt x="8028719" y="0"/>
                </a:lnTo>
                <a:lnTo>
                  <a:pt x="8028719" y="6671136"/>
                </a:lnTo>
                <a:lnTo>
                  <a:pt x="0" y="66711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785107"/>
            <a:ext cx="14381689" cy="3245782"/>
            <a:chOff x="0" y="0"/>
            <a:chExt cx="19175586" cy="432771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2185643"/>
              <a:ext cx="19175586" cy="2142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000"/>
                </a:lnSpc>
              </a:pPr>
              <a:r>
                <a:rPr lang="en-US" sz="10000">
                  <a:solidFill>
                    <a:srgbClr val="FFFFFF"/>
                  </a:solidFill>
                  <a:latin typeface="Public Sans Thin"/>
                  <a:ea typeface="Public Sans Thin"/>
                  <a:cs typeface="Public Sans Thin"/>
                  <a:sym typeface="Public Sans Thin"/>
                </a:rPr>
                <a:t>Trabalho Prático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66675"/>
              <a:ext cx="14537536" cy="11978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FFFF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D</a:t>
              </a:r>
              <a:r>
                <a:rPr lang="en-US" b="true" sz="2600">
                  <a:solidFill>
                    <a:srgbClr val="FFFF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O MUNDO REAL AO INSIGHT: MODELAGEM, IMPLEMENTAÇÃO E ANÁLISE DE UMA BASE DE DADOS ABERTA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2588596" y="7449663"/>
            <a:ext cx="8028719" cy="6671135"/>
          </a:xfrm>
          <a:custGeom>
            <a:avLst/>
            <a:gdLst/>
            <a:ahLst/>
            <a:cxnLst/>
            <a:rect r="r" b="b" t="t" l="l"/>
            <a:pathLst>
              <a:path h="6671135" w="8028719">
                <a:moveTo>
                  <a:pt x="0" y="0"/>
                </a:moveTo>
                <a:lnTo>
                  <a:pt x="8028718" y="0"/>
                </a:lnTo>
                <a:lnTo>
                  <a:pt x="8028718" y="6671135"/>
                </a:lnTo>
                <a:lnTo>
                  <a:pt x="0" y="66711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5911222"/>
            <a:ext cx="10903152" cy="2286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INTEGRANTES: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SAMUEL LIMA HORTA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THIAGO TOBIAS VALENTE DE OLIVEIRA SANTOS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BERNARDO SOARES DINIZ LARA</a:t>
            </a:r>
          </a:p>
          <a:p>
            <a:pPr algn="l" marL="561340" indent="-280670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LUIGI PINESI TAVARES JACOB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002473"/>
            <a:ext cx="6083531" cy="6134423"/>
            <a:chOff x="0" y="0"/>
            <a:chExt cx="8111374" cy="817923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9050"/>
              <a:ext cx="8111374" cy="2457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222A9B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Obj</a:t>
              </a:r>
              <a:r>
                <a:rPr lang="en-US" b="true" sz="6000">
                  <a:solidFill>
                    <a:srgbClr val="222A9B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etivo do trabalho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975829"/>
              <a:ext cx="6639889" cy="52034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80"/>
                </a:lnSpc>
              </a:pPr>
              <a:r>
                <a:rPr lang="en-US" sz="3200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Visão Geral:</a:t>
              </a:r>
            </a:p>
            <a:p>
              <a:pPr algn="l">
                <a:lnSpc>
                  <a:spcPts val="4480"/>
                </a:lnSpc>
              </a:pPr>
            </a:p>
            <a:p>
              <a:pPr algn="l">
                <a:lnSpc>
                  <a:spcPts val="4480"/>
                </a:lnSpc>
              </a:pPr>
              <a:r>
                <a:rPr lang="en-US" sz="3200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Como transformar uma base aberta e desestruturada em um banco relacional consistente?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950097" y="1935798"/>
            <a:ext cx="6810972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P</a:t>
            </a:r>
            <a:r>
              <a:rPr lang="en-US" sz="2600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rojetar modelo conceitual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50097" y="2777354"/>
            <a:ext cx="6810972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C</a:t>
            </a:r>
            <a:r>
              <a:rPr lang="en-US" sz="2600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onstruir modelo relacional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50097" y="3618910"/>
            <a:ext cx="6810972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I</a:t>
            </a:r>
            <a:r>
              <a:rPr lang="en-US" sz="2600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mplementar banco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50097" y="4460467"/>
            <a:ext cx="6810972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</a:t>
            </a:r>
            <a:r>
              <a:rPr lang="en-US" sz="2600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utomatizar carga dos dados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50097" y="5302023"/>
            <a:ext cx="6810972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Gar</a:t>
            </a:r>
            <a:r>
              <a:rPr lang="en-US" sz="2600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antir integridade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22342" y="2119948"/>
            <a:ext cx="44331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b="true" sz="1600">
                <a:solidFill>
                  <a:srgbClr val="222A9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922342" y="2961504"/>
            <a:ext cx="44331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b="true" sz="1600">
                <a:solidFill>
                  <a:srgbClr val="222A9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22342" y="3803060"/>
            <a:ext cx="44331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b="true" sz="1600">
                <a:solidFill>
                  <a:srgbClr val="222A9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22342" y="4644617"/>
            <a:ext cx="44331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b="true" sz="1600">
                <a:solidFill>
                  <a:srgbClr val="222A9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922342" y="5486173"/>
            <a:ext cx="44331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b="true" sz="1600">
                <a:solidFill>
                  <a:srgbClr val="222A9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05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801552" y="400458"/>
            <a:ext cx="3799676" cy="1154339"/>
            <a:chOff x="0" y="0"/>
            <a:chExt cx="5066235" cy="1539119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9525"/>
              <a:ext cx="5066235" cy="7710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97"/>
                </a:lnSpc>
              </a:pPr>
              <a:r>
                <a:rPr lang="en-US" sz="3747" b="true">
                  <a:solidFill>
                    <a:srgbClr val="222A9B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Obj</a:t>
              </a:r>
              <a:r>
                <a:rPr lang="en-US" b="true" sz="3747">
                  <a:solidFill>
                    <a:srgbClr val="222A9B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etivos: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091181"/>
              <a:ext cx="4147169" cy="4479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98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950097" y="6218646"/>
            <a:ext cx="6810972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343434"/>
                </a:solidFill>
                <a:latin typeface="Public Sans"/>
                <a:ea typeface="Public Sans"/>
                <a:cs typeface="Public Sans"/>
                <a:sym typeface="Public Sans"/>
              </a:rPr>
              <a:t>Responder perguntas usando os dados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922342" y="6325008"/>
            <a:ext cx="44331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b="true" sz="1600">
                <a:solidFill>
                  <a:srgbClr val="222A9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06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A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3260" y="4065969"/>
            <a:ext cx="4971501" cy="1979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45"/>
              </a:lnSpc>
            </a:pPr>
            <a:r>
              <a:rPr lang="en-US" sz="5675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Base de dados</a:t>
            </a:r>
          </a:p>
          <a:p>
            <a:pPr algn="l">
              <a:lnSpc>
                <a:spcPts val="7945"/>
              </a:lnSpc>
            </a:pPr>
            <a:r>
              <a:rPr lang="en-US" sz="5675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escolhida: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7005700" y="3234582"/>
            <a:ext cx="4276599" cy="3817837"/>
          </a:xfrm>
          <a:custGeom>
            <a:avLst/>
            <a:gdLst/>
            <a:ahLst/>
            <a:cxnLst/>
            <a:rect r="r" b="b" t="t" l="l"/>
            <a:pathLst>
              <a:path h="3817837" w="4276599">
                <a:moveTo>
                  <a:pt x="0" y="0"/>
                </a:moveTo>
                <a:lnTo>
                  <a:pt x="4276600" y="0"/>
                </a:lnTo>
                <a:lnTo>
                  <a:pt x="4276600" y="3817836"/>
                </a:lnTo>
                <a:lnTo>
                  <a:pt x="0" y="3817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970392" y="3384333"/>
            <a:ext cx="4993895" cy="1054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</a:pPr>
            <a:r>
              <a:rPr lang="en-US" sz="60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B</a:t>
            </a:r>
            <a:r>
              <a:rPr lang="en-US" sz="60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rasileirão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970392" y="4974243"/>
            <a:ext cx="8582455" cy="1795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5"/>
              </a:lnSpc>
            </a:pPr>
          </a:p>
          <a:p>
            <a:pPr algn="l" marL="441861" indent="-220931" lvl="1">
              <a:lnSpc>
                <a:spcPts val="2865"/>
              </a:lnSpc>
              <a:buFont typeface="Arial"/>
              <a:buChar char="•"/>
            </a:pPr>
            <a:r>
              <a:rPr lang="en-US" b="true" sz="2046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INFORMAÇÕES DE 22 TEMPORADAS</a:t>
            </a:r>
          </a:p>
          <a:p>
            <a:pPr algn="l">
              <a:lnSpc>
                <a:spcPts val="2865"/>
              </a:lnSpc>
            </a:pPr>
            <a:r>
              <a:rPr lang="en-US" sz="2046" b="tru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 DO BRASILEIRÃO</a:t>
            </a:r>
          </a:p>
          <a:p>
            <a:pPr algn="l" marL="441861" indent="-220931" lvl="1">
              <a:lnSpc>
                <a:spcPts val="2865"/>
              </a:lnSpc>
              <a:buFont typeface="Arial"/>
              <a:buChar char="•"/>
            </a:pPr>
            <a:r>
              <a:rPr lang="en-US" b="true" sz="2046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DADOS DE 2003 A 2024</a:t>
            </a:r>
          </a:p>
          <a:p>
            <a:pPr algn="l" marL="441861" indent="-220931" lvl="1">
              <a:lnSpc>
                <a:spcPts val="286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46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FONTE: BASE DOS DADOS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2352" y="1252870"/>
            <a:ext cx="11823297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Modelagem Entidade - Relacionamento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832683" y="-774656"/>
            <a:ext cx="8307453" cy="6337190"/>
          </a:xfrm>
          <a:custGeom>
            <a:avLst/>
            <a:gdLst/>
            <a:ahLst/>
            <a:cxnLst/>
            <a:rect r="r" b="b" t="t" l="l"/>
            <a:pathLst>
              <a:path h="6337190" w="8307453">
                <a:moveTo>
                  <a:pt x="0" y="0"/>
                </a:moveTo>
                <a:lnTo>
                  <a:pt x="8307454" y="0"/>
                </a:lnTo>
                <a:lnTo>
                  <a:pt x="8307454" y="6337190"/>
                </a:lnTo>
                <a:lnTo>
                  <a:pt x="0" y="63371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37841">
            <a:off x="-3569617" y="6859192"/>
            <a:ext cx="8307453" cy="6337190"/>
          </a:xfrm>
          <a:custGeom>
            <a:avLst/>
            <a:gdLst/>
            <a:ahLst/>
            <a:cxnLst/>
            <a:rect r="r" b="b" t="t" l="l"/>
            <a:pathLst>
              <a:path h="6337190" w="8307453">
                <a:moveTo>
                  <a:pt x="0" y="0"/>
                </a:moveTo>
                <a:lnTo>
                  <a:pt x="8307454" y="0"/>
                </a:lnTo>
                <a:lnTo>
                  <a:pt x="8307454" y="6337190"/>
                </a:lnTo>
                <a:lnTo>
                  <a:pt x="0" y="63371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441015" y="4043267"/>
            <a:ext cx="8096773" cy="978535"/>
            <a:chOff x="0" y="0"/>
            <a:chExt cx="10795697" cy="130471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249767"/>
              <a:ext cx="216069" cy="216069"/>
              <a:chOff x="0" y="0"/>
              <a:chExt cx="6350000" cy="63500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222A9B"/>
              </a:solidFill>
            </p:spPr>
          </p:sp>
        </p:grpSp>
        <p:sp>
          <p:nvSpPr>
            <p:cNvPr name="TextBox 8" id="8"/>
            <p:cNvSpPr txBox="true"/>
            <p:nvPr/>
          </p:nvSpPr>
          <p:spPr>
            <a:xfrm rot="0">
              <a:off x="1123472" y="-47625"/>
              <a:ext cx="9672225" cy="13523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64"/>
                </a:lnSpc>
              </a:pPr>
              <a:r>
                <a:rPr lang="en-US" sz="1974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Campeonato, </a:t>
              </a:r>
              <a:r>
                <a:rPr lang="en-US" sz="1974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Partida, Time, Pessoa (Técnico ou Árbitro), Estádio, Estatística</a:t>
              </a:r>
            </a:p>
            <a:p>
              <a:pPr algn="l">
                <a:lnSpc>
                  <a:spcPts val="2765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582769" y="3258796"/>
            <a:ext cx="1487858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b="true" sz="2600">
                <a:solidFill>
                  <a:srgbClr val="222A9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Etapa 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441015" y="3258796"/>
            <a:ext cx="7273450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Identificação das Entidades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441015" y="5799248"/>
            <a:ext cx="5728349" cy="1753870"/>
            <a:chOff x="0" y="0"/>
            <a:chExt cx="7637799" cy="2338493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249767"/>
              <a:ext cx="216069" cy="216069"/>
              <a:chOff x="0" y="0"/>
              <a:chExt cx="6350000" cy="6350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222A9B"/>
              </a:solidFill>
            </p:spPr>
          </p:sp>
        </p:grpSp>
        <p:sp>
          <p:nvSpPr>
            <p:cNvPr name="TextBox 14" id="14"/>
            <p:cNvSpPr txBox="true"/>
            <p:nvPr/>
          </p:nvSpPr>
          <p:spPr>
            <a:xfrm rot="0">
              <a:off x="1123472" y="-47625"/>
              <a:ext cx="6514327" cy="22667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64"/>
                </a:lnSpc>
              </a:pPr>
              <a:r>
                <a:rPr lang="en-US" sz="1974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Campeonato (1) → Partida (N)</a:t>
              </a:r>
            </a:p>
            <a:p>
              <a:pPr algn="l">
                <a:lnSpc>
                  <a:spcPts val="2764"/>
                </a:lnSpc>
              </a:pPr>
              <a:r>
                <a:rPr lang="en-US" sz="1974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Estádio (1)  → Partida (N)</a:t>
              </a:r>
            </a:p>
            <a:p>
              <a:pPr algn="l">
                <a:lnSpc>
                  <a:spcPts val="2764"/>
                </a:lnSpc>
              </a:pPr>
              <a:r>
                <a:rPr lang="en-US" sz="1974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Árbitro (1) → Partida (N)</a:t>
              </a:r>
            </a:p>
            <a:p>
              <a:pPr algn="l">
                <a:lnSpc>
                  <a:spcPts val="2764"/>
                </a:lnSpc>
              </a:pPr>
              <a:r>
                <a:rPr lang="en-US" sz="1974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Entre outros </a:t>
              </a:r>
            </a:p>
            <a:p>
              <a:pPr algn="l">
                <a:lnSpc>
                  <a:spcPts val="2765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582769" y="5165536"/>
            <a:ext cx="1487858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b="true" sz="2600">
                <a:solidFill>
                  <a:srgbClr val="222A9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Etapa 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441015" y="5165536"/>
            <a:ext cx="7273450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Identificação dos Relacionamentos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3441015" y="8051203"/>
            <a:ext cx="7259452" cy="635635"/>
            <a:chOff x="0" y="0"/>
            <a:chExt cx="9679269" cy="847513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249767"/>
              <a:ext cx="216069" cy="216069"/>
              <a:chOff x="0" y="0"/>
              <a:chExt cx="6350000" cy="6350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222A9B"/>
              </a:solidFill>
            </p:spPr>
          </p:sp>
        </p:grpSp>
        <p:sp>
          <p:nvSpPr>
            <p:cNvPr name="TextBox 20" id="20"/>
            <p:cNvSpPr txBox="true"/>
            <p:nvPr/>
          </p:nvSpPr>
          <p:spPr>
            <a:xfrm rot="0">
              <a:off x="1123472" y="-47625"/>
              <a:ext cx="8555796" cy="8951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65"/>
                </a:lnSpc>
              </a:pPr>
              <a:r>
                <a:rPr lang="en-US" sz="1975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definição das dependências entre entidades, valores válidos para gols, IDs únicos e etc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582769" y="7486443"/>
            <a:ext cx="1487858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b="true" sz="2600">
                <a:solidFill>
                  <a:srgbClr val="222A9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Etapa 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441015" y="7421918"/>
            <a:ext cx="7273450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Identificação das  Restrições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A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73796" y="1385246"/>
            <a:ext cx="9303602" cy="8420352"/>
          </a:xfrm>
          <a:custGeom>
            <a:avLst/>
            <a:gdLst/>
            <a:ahLst/>
            <a:cxnLst/>
            <a:rect r="r" b="b" t="t" l="l"/>
            <a:pathLst>
              <a:path h="8420352" w="9303602">
                <a:moveTo>
                  <a:pt x="0" y="0"/>
                </a:moveTo>
                <a:lnTo>
                  <a:pt x="9303602" y="0"/>
                </a:lnTo>
                <a:lnTo>
                  <a:pt x="9303602" y="8420352"/>
                </a:lnTo>
                <a:lnTo>
                  <a:pt x="0" y="84203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551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74780" y="312097"/>
            <a:ext cx="12539214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4"/>
              </a:lnSpc>
            </a:pPr>
            <a:r>
              <a:rPr lang="en-US" sz="5225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Proj</a:t>
            </a:r>
            <a:r>
              <a:rPr lang="en-US" sz="5225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eto Conceitual (ER/EER)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2352" y="1252870"/>
            <a:ext cx="11823297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Objetivos da Etapa 2 (Modelo Relacional e Normalização)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832683" y="-774656"/>
            <a:ext cx="8307453" cy="6337190"/>
          </a:xfrm>
          <a:custGeom>
            <a:avLst/>
            <a:gdLst/>
            <a:ahLst/>
            <a:cxnLst/>
            <a:rect r="r" b="b" t="t" l="l"/>
            <a:pathLst>
              <a:path h="6337190" w="8307453">
                <a:moveTo>
                  <a:pt x="0" y="0"/>
                </a:moveTo>
                <a:lnTo>
                  <a:pt x="8307454" y="0"/>
                </a:lnTo>
                <a:lnTo>
                  <a:pt x="8307454" y="6337190"/>
                </a:lnTo>
                <a:lnTo>
                  <a:pt x="0" y="63371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37841">
            <a:off x="-3569617" y="6859192"/>
            <a:ext cx="8307453" cy="6337190"/>
          </a:xfrm>
          <a:custGeom>
            <a:avLst/>
            <a:gdLst/>
            <a:ahLst/>
            <a:cxnLst/>
            <a:rect r="r" b="b" t="t" l="l"/>
            <a:pathLst>
              <a:path h="6337190" w="8307453">
                <a:moveTo>
                  <a:pt x="0" y="0"/>
                </a:moveTo>
                <a:lnTo>
                  <a:pt x="8307454" y="0"/>
                </a:lnTo>
                <a:lnTo>
                  <a:pt x="8307454" y="6337190"/>
                </a:lnTo>
                <a:lnTo>
                  <a:pt x="0" y="63371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232352" y="4085484"/>
            <a:ext cx="7586406" cy="777875"/>
            <a:chOff x="0" y="0"/>
            <a:chExt cx="10115208" cy="103716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87122"/>
              <a:ext cx="216069" cy="216069"/>
              <a:chOff x="0" y="0"/>
              <a:chExt cx="6350000" cy="63500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222A9B"/>
              </a:solidFill>
            </p:spPr>
          </p:sp>
        </p:grpSp>
        <p:sp>
          <p:nvSpPr>
            <p:cNvPr name="TextBox 8" id="8"/>
            <p:cNvSpPr txBox="true"/>
            <p:nvPr/>
          </p:nvSpPr>
          <p:spPr>
            <a:xfrm rot="0">
              <a:off x="442982" y="-57150"/>
              <a:ext cx="9672225" cy="10943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24"/>
                </a:lnSpc>
              </a:pPr>
              <a:r>
                <a:rPr lang="en-US" sz="2374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Transformar diagrama ER em esquema relacional consistente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441015" y="3258796"/>
            <a:ext cx="7273450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Objetivo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3232352" y="6060233"/>
            <a:ext cx="5233931" cy="358775"/>
            <a:chOff x="0" y="0"/>
            <a:chExt cx="6978574" cy="478367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131149"/>
              <a:ext cx="216069" cy="216069"/>
              <a:chOff x="0" y="0"/>
              <a:chExt cx="6350000" cy="6350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222A9B"/>
              </a:solidFill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464248" y="-57150"/>
              <a:ext cx="6514327" cy="5355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24"/>
                </a:lnSpc>
              </a:pPr>
              <a:r>
                <a:rPr lang="en-US" sz="2374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Chegar em pelo menos 3FN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441015" y="5165536"/>
            <a:ext cx="7273450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Critério de qualidade mínimo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232352" y="7869385"/>
            <a:ext cx="6802185" cy="358775"/>
            <a:chOff x="0" y="0"/>
            <a:chExt cx="9069580" cy="478367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131149"/>
              <a:ext cx="216069" cy="216069"/>
              <a:chOff x="0" y="0"/>
              <a:chExt cx="6350000" cy="6350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222A9B"/>
              </a:solidFill>
            </p:spPr>
          </p:sp>
        </p:grpSp>
        <p:sp>
          <p:nvSpPr>
            <p:cNvPr name="TextBox 18" id="18"/>
            <p:cNvSpPr txBox="true"/>
            <p:nvPr/>
          </p:nvSpPr>
          <p:spPr>
            <a:xfrm rot="0">
              <a:off x="513784" y="-57150"/>
              <a:ext cx="8555796" cy="5355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24"/>
                </a:lnSpc>
              </a:pPr>
              <a:r>
                <a:rPr lang="en-US" sz="2374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Base pronta para SQL e análises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3441015" y="6911551"/>
            <a:ext cx="7273450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Resultado esperado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A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73796" y="1385246"/>
            <a:ext cx="9303602" cy="8420352"/>
          </a:xfrm>
          <a:custGeom>
            <a:avLst/>
            <a:gdLst/>
            <a:ahLst/>
            <a:cxnLst/>
            <a:rect r="r" b="b" t="t" l="l"/>
            <a:pathLst>
              <a:path h="8420352" w="9303602">
                <a:moveTo>
                  <a:pt x="0" y="0"/>
                </a:moveTo>
                <a:lnTo>
                  <a:pt x="9303602" y="0"/>
                </a:lnTo>
                <a:lnTo>
                  <a:pt x="9303602" y="8420352"/>
                </a:lnTo>
                <a:lnTo>
                  <a:pt x="0" y="84203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551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74780" y="312097"/>
            <a:ext cx="12539214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4"/>
              </a:lnSpc>
            </a:pPr>
            <a:r>
              <a:rPr lang="en-US" sz="5225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Proj</a:t>
            </a:r>
            <a:r>
              <a:rPr lang="en-US" sz="5225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eto Conceitual (ER/EER)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32683" y="-774656"/>
            <a:ext cx="8307453" cy="6337190"/>
          </a:xfrm>
          <a:custGeom>
            <a:avLst/>
            <a:gdLst/>
            <a:ahLst/>
            <a:cxnLst/>
            <a:rect r="r" b="b" t="t" l="l"/>
            <a:pathLst>
              <a:path h="6337190" w="8307453">
                <a:moveTo>
                  <a:pt x="0" y="0"/>
                </a:moveTo>
                <a:lnTo>
                  <a:pt x="8307454" y="0"/>
                </a:lnTo>
                <a:lnTo>
                  <a:pt x="8307454" y="6337190"/>
                </a:lnTo>
                <a:lnTo>
                  <a:pt x="0" y="63371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911542" y="3888948"/>
            <a:ext cx="5728349" cy="725170"/>
            <a:chOff x="0" y="0"/>
            <a:chExt cx="7637799" cy="966893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249767"/>
              <a:ext cx="216069" cy="216069"/>
              <a:chOff x="0" y="0"/>
              <a:chExt cx="6350000" cy="6350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222A9B"/>
              </a:solidFill>
            </p:spPr>
          </p:sp>
        </p:grpSp>
        <p:sp>
          <p:nvSpPr>
            <p:cNvPr name="TextBox 6" id="6"/>
            <p:cNvSpPr txBox="true"/>
            <p:nvPr/>
          </p:nvSpPr>
          <p:spPr>
            <a:xfrm rot="0">
              <a:off x="1123472" y="-57150"/>
              <a:ext cx="6514327" cy="10240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200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Cam</a:t>
              </a:r>
              <a:r>
                <a:rPr lang="en-US" sz="2200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peonato(</a:t>
              </a:r>
              <a:r>
                <a:rPr lang="en-US" b="true" sz="2200">
                  <a:solidFill>
                    <a:srgbClr val="343434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id_campeonato</a:t>
              </a:r>
              <a:r>
                <a:rPr lang="en-US" sz="2200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, ano_campeonato)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911542" y="5008246"/>
            <a:ext cx="5728349" cy="1292860"/>
            <a:chOff x="0" y="0"/>
            <a:chExt cx="7637799" cy="1723813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249767"/>
              <a:ext cx="216069" cy="216069"/>
              <a:chOff x="0" y="0"/>
              <a:chExt cx="6350000" cy="6350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222A9B"/>
              </a:solidFill>
            </p:spPr>
          </p:sp>
        </p:grpSp>
        <p:sp>
          <p:nvSpPr>
            <p:cNvPr name="TextBox 10" id="10"/>
            <p:cNvSpPr txBox="true"/>
            <p:nvPr/>
          </p:nvSpPr>
          <p:spPr>
            <a:xfrm rot="0">
              <a:off x="1123472" y="-57150"/>
              <a:ext cx="6514327" cy="15447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Pessoa(</a:t>
              </a:r>
              <a:r>
                <a:rPr lang="en-US" b="true" sz="2199">
                  <a:solidFill>
                    <a:srgbClr val="343434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id_pessoa</a:t>
              </a: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, nome), Tecnico(</a:t>
              </a:r>
              <a:r>
                <a:rPr lang="en-US" b="true" sz="2199">
                  <a:solidFill>
                    <a:srgbClr val="343434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id_tecnico</a:t>
              </a: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), Arbitro(</a:t>
              </a:r>
              <a:r>
                <a:rPr lang="en-US" b="true" sz="2199">
                  <a:solidFill>
                    <a:srgbClr val="343434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id_arbitro</a:t>
              </a: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911542" y="6532388"/>
            <a:ext cx="5536961" cy="725170"/>
            <a:chOff x="0" y="0"/>
            <a:chExt cx="7382615" cy="966893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115062"/>
              <a:ext cx="216069" cy="216069"/>
              <a:chOff x="0" y="0"/>
              <a:chExt cx="6350000" cy="6350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222A9B"/>
              </a:solidFill>
            </p:spPr>
          </p:sp>
        </p:grpSp>
        <p:sp>
          <p:nvSpPr>
            <p:cNvPr name="TextBox 14" id="14"/>
            <p:cNvSpPr txBox="true"/>
            <p:nvPr/>
          </p:nvSpPr>
          <p:spPr>
            <a:xfrm rot="0">
              <a:off x="804493" y="-57150"/>
              <a:ext cx="6578123" cy="10240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200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Estadio(</a:t>
              </a:r>
              <a:r>
                <a:rPr lang="en-US" b="true" sz="2200">
                  <a:solidFill>
                    <a:srgbClr val="343434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id_estadio</a:t>
              </a:r>
              <a:r>
                <a:rPr lang="en-US" sz="2200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, nome_estadio, publico_max)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137841">
            <a:off x="-3569617" y="6859192"/>
            <a:ext cx="8307453" cy="6337190"/>
          </a:xfrm>
          <a:custGeom>
            <a:avLst/>
            <a:gdLst/>
            <a:ahLst/>
            <a:cxnLst/>
            <a:rect r="r" b="b" t="t" l="l"/>
            <a:pathLst>
              <a:path h="6337190" w="8307453">
                <a:moveTo>
                  <a:pt x="0" y="0"/>
                </a:moveTo>
                <a:lnTo>
                  <a:pt x="8307454" y="0"/>
                </a:lnTo>
                <a:lnTo>
                  <a:pt x="8307454" y="6337190"/>
                </a:lnTo>
                <a:lnTo>
                  <a:pt x="0" y="63371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090861" y="1928432"/>
            <a:ext cx="9576530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Domínio e Entidades Principais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636636" y="3888948"/>
            <a:ext cx="5728349" cy="438912"/>
            <a:chOff x="0" y="0"/>
            <a:chExt cx="7637799" cy="585216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249767"/>
              <a:ext cx="216069" cy="216069"/>
              <a:chOff x="0" y="0"/>
              <a:chExt cx="6350000" cy="6350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222A9B"/>
              </a:solidFill>
            </p:spPr>
          </p:sp>
        </p:grpSp>
        <p:sp>
          <p:nvSpPr>
            <p:cNvPr name="TextBox 20" id="20"/>
            <p:cNvSpPr txBox="true"/>
            <p:nvPr/>
          </p:nvSpPr>
          <p:spPr>
            <a:xfrm rot="0">
              <a:off x="1123472" y="-57150"/>
              <a:ext cx="6514327" cy="5033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Tim</a:t>
              </a: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e(</a:t>
              </a:r>
              <a:r>
                <a:rPr lang="en-US" b="true" sz="2199">
                  <a:solidFill>
                    <a:srgbClr val="343434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id_time</a:t>
              </a: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, nome_time)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636636" y="4901566"/>
            <a:ext cx="5728349" cy="1506220"/>
            <a:chOff x="0" y="0"/>
            <a:chExt cx="7637799" cy="2008293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249767"/>
              <a:ext cx="216069" cy="216069"/>
              <a:chOff x="0" y="0"/>
              <a:chExt cx="6350000" cy="6350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222A9B"/>
              </a:solidFill>
            </p:spPr>
          </p:sp>
        </p:grpSp>
        <p:sp>
          <p:nvSpPr>
            <p:cNvPr name="TextBox 24" id="24"/>
            <p:cNvSpPr txBox="true"/>
            <p:nvPr/>
          </p:nvSpPr>
          <p:spPr>
            <a:xfrm rot="0">
              <a:off x="1123472" y="-57150"/>
              <a:ext cx="6514327" cy="20654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Partida(</a:t>
              </a: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</a:t>
              </a:r>
              <a:r>
                <a:rPr lang="en-US" b="true" sz="2199">
                  <a:solidFill>
                    <a:srgbClr val="343434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id_partida</a:t>
              </a: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, data, rodada, publico, gols_mandante, gols_visitante, id_campeonato,</a:t>
              </a:r>
            </a:p>
            <a:p>
              <a:pPr algn="l">
                <a:lnSpc>
                  <a:spcPts val="3079"/>
                </a:lnSpc>
              </a:pPr>
              <a:r>
                <a:rPr lang="en-US" sz="2200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id_estadio, id_arbitro)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636636" y="6728962"/>
            <a:ext cx="5728349" cy="3298825"/>
            <a:chOff x="0" y="0"/>
            <a:chExt cx="7637799" cy="4398433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249767"/>
              <a:ext cx="216069" cy="216069"/>
              <a:chOff x="0" y="0"/>
              <a:chExt cx="6350000" cy="63500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222A9B"/>
              </a:solidFill>
            </p:spPr>
          </p:sp>
        </p:grpSp>
        <p:sp>
          <p:nvSpPr>
            <p:cNvPr name="TextBox 28" id="28"/>
            <p:cNvSpPr txBox="true"/>
            <p:nvPr/>
          </p:nvSpPr>
          <p:spPr>
            <a:xfrm rot="0">
              <a:off x="1123472" y="-57150"/>
              <a:ext cx="6514327" cy="41482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</a:t>
              </a: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statistica( </a:t>
              </a:r>
              <a:r>
                <a:rPr lang="en-US" b="true" sz="2199">
                  <a:solidFill>
                    <a:srgbClr val="343434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id_estatistica</a:t>
              </a: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, tipo_mando, colocacao, valor_equipe_titular, idade_media_titular,</a:t>
              </a:r>
            </a:p>
            <a:p>
              <a:pPr algn="l">
                <a:lnSpc>
                  <a:spcPts val="3079"/>
                </a:lnSpc>
              </a:pP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escanteios, faltas, chutes_bola_parada, defesas, impedimentos, chutes, chutes_fora,</a:t>
              </a:r>
            </a:p>
            <a:p>
              <a:pPr algn="l">
                <a:lnSpc>
                  <a:spcPts val="3079"/>
                </a:lnSpc>
              </a:pP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id_partida, id_time, id_tecnico)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652552" y="1814949"/>
            <a:ext cx="269328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b="true" sz="2600">
                <a:solidFill>
                  <a:srgbClr val="222A9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075636" y="1881624"/>
            <a:ext cx="7273450" cy="1297305"/>
            <a:chOff x="0" y="0"/>
            <a:chExt cx="9697934" cy="172974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226397"/>
              <a:ext cx="9697934" cy="5033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66675"/>
              <a:ext cx="9697934" cy="11978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22A9B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Transf</a:t>
              </a:r>
              <a:r>
                <a:rPr lang="en-US" sz="2600">
                  <a:solidFill>
                    <a:srgbClr val="222A9B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ormar a base original em um banco relacional consistente.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652552" y="3179961"/>
            <a:ext cx="282155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b="true" sz="2600">
                <a:solidFill>
                  <a:srgbClr val="222A9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088463" y="3217743"/>
            <a:ext cx="7273450" cy="2021205"/>
            <a:chOff x="0" y="0"/>
            <a:chExt cx="9697934" cy="269494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626322"/>
              <a:ext cx="9697934" cy="19593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61632" indent="-180816" lvl="1">
                <a:lnSpc>
                  <a:spcPts val="2344"/>
                </a:lnSpc>
                <a:buFont typeface="Arial"/>
                <a:buChar char="•"/>
              </a:pPr>
              <a:r>
                <a:rPr lang="en-US" sz="1674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Pyt</a:t>
              </a:r>
              <a:r>
                <a:rPr lang="en-US" sz="1674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hon</a:t>
              </a:r>
            </a:p>
            <a:p>
              <a:pPr algn="l" marL="361632" indent="-180816" lvl="1">
                <a:lnSpc>
                  <a:spcPts val="2344"/>
                </a:lnSpc>
                <a:buFont typeface="Arial"/>
                <a:buChar char="•"/>
              </a:pPr>
              <a:r>
                <a:rPr lang="en-US" sz="1674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Pandas</a:t>
              </a:r>
            </a:p>
            <a:p>
              <a:pPr algn="l" marL="361632" indent="-180816" lvl="1">
                <a:lnSpc>
                  <a:spcPts val="2344"/>
                </a:lnSpc>
                <a:buFont typeface="Arial"/>
                <a:buChar char="•"/>
              </a:pPr>
              <a:r>
                <a:rPr lang="en-US" sz="1674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PostgreSQL</a:t>
              </a:r>
            </a:p>
            <a:p>
              <a:pPr algn="l" marL="361632" indent="-180816" lvl="1">
                <a:lnSpc>
                  <a:spcPts val="2344"/>
                </a:lnSpc>
                <a:buFont typeface="Arial"/>
                <a:buChar char="•"/>
              </a:pPr>
              <a:r>
                <a:rPr lang="en-US" sz="1674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VSCode</a:t>
              </a:r>
            </a:p>
            <a:p>
              <a:pPr algn="l">
                <a:lnSpc>
                  <a:spcPts val="2345"/>
                </a:lnSpc>
              </a:pP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66675"/>
              <a:ext cx="9697934" cy="588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22A9B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F</a:t>
              </a:r>
              <a:r>
                <a:rPr lang="en-US" sz="2600">
                  <a:solidFill>
                    <a:srgbClr val="222A9B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erramentas: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639725" y="5211088"/>
            <a:ext cx="282155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b="true" sz="2600">
                <a:solidFill>
                  <a:srgbClr val="222A9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075636" y="5223947"/>
            <a:ext cx="7273450" cy="1621155"/>
            <a:chOff x="0" y="0"/>
            <a:chExt cx="9697934" cy="216154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616797"/>
              <a:ext cx="9697934" cy="15447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CSV: Fonte original</a:t>
              </a:r>
            </a:p>
            <a:p>
              <a:pPr algn="l">
                <a:lnSpc>
                  <a:spcPts val="3079"/>
                </a:lnSpc>
              </a:pP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criar_banco.py: ETL</a:t>
              </a:r>
            </a:p>
            <a:p>
              <a:pPr algn="l">
                <a:lnSpc>
                  <a:spcPts val="3079"/>
                </a:lnSpc>
              </a:pPr>
              <a:r>
                <a:rPr lang="en-US" sz="2200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PostgreSQL: Resultado final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66675"/>
              <a:ext cx="9697934" cy="588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22A9B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Es</a:t>
              </a:r>
              <a:r>
                <a:rPr lang="en-US" sz="2600">
                  <a:solidFill>
                    <a:srgbClr val="222A9B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trutura do projeto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614072" y="7079813"/>
            <a:ext cx="307808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b="true" sz="2600">
                <a:solidFill>
                  <a:srgbClr val="222A9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4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075636" y="7117596"/>
            <a:ext cx="7273450" cy="1287780"/>
            <a:chOff x="0" y="0"/>
            <a:chExt cx="9697934" cy="171704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1232747"/>
              <a:ext cx="9697934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60"/>
                </a:lnSpc>
              </a:pP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-66675"/>
              <a:ext cx="9697934" cy="11749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34"/>
                </a:lnSpc>
              </a:pPr>
              <a:r>
                <a:rPr lang="en-US" sz="2525">
                  <a:solidFill>
                    <a:srgbClr val="222A9B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Ma</a:t>
              </a:r>
              <a:r>
                <a:rPr lang="en-US" sz="2525">
                  <a:solidFill>
                    <a:srgbClr val="222A9B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ntivemos separação entre entrada, processamento e saída.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8700" y="3919498"/>
            <a:ext cx="4962647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Imp</a:t>
            </a:r>
            <a:r>
              <a:rPr lang="en-US" sz="5000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lementação / Arquitetura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849315"/>
            <a:ext cx="13456660" cy="2314023"/>
            <a:chOff x="0" y="0"/>
            <a:chExt cx="17942214" cy="308536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9050"/>
              <a:ext cx="17942214" cy="1238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222A9B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Pr</a:t>
              </a:r>
              <a:r>
                <a:rPr lang="en-US" b="true" sz="6000">
                  <a:solidFill>
                    <a:srgbClr val="222A9B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ocesso ETL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717362"/>
              <a:ext cx="15364560" cy="12918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54"/>
                </a:lnSpc>
              </a:pPr>
              <a:r>
                <a:rPr lang="en-US" sz="2825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Toda transformação ocorreu antes da inserção para evitar inconsistências.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6546017"/>
            <a:ext cx="4329594" cy="1055445"/>
            <a:chOff x="0" y="0"/>
            <a:chExt cx="5772792" cy="1407261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66675"/>
              <a:ext cx="5772792" cy="588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b="true" sz="2600">
                  <a:solidFill>
                    <a:srgbClr val="222A9B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Extração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903917"/>
              <a:ext cx="5772792" cy="5033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74980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200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l</a:t>
              </a:r>
              <a:r>
                <a:rPr lang="en-US" sz="2200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eitura com Pandas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538665" y="6546017"/>
            <a:ext cx="4329594" cy="2596630"/>
            <a:chOff x="0" y="0"/>
            <a:chExt cx="5772792" cy="3462173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57150"/>
              <a:ext cx="5772792" cy="5718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59"/>
                </a:lnSpc>
              </a:pPr>
              <a:r>
                <a:rPr lang="en-US" b="true" sz="2542">
                  <a:solidFill>
                    <a:srgbClr val="222A9B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T</a:t>
              </a:r>
              <a:r>
                <a:rPr lang="en-US" b="true" sz="2542">
                  <a:solidFill>
                    <a:srgbClr val="222A9B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ransformação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911625"/>
              <a:ext cx="5772792" cy="25505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74980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tip</a:t>
              </a: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os</a:t>
              </a:r>
            </a:p>
            <a:p>
              <a:pPr algn="l" marL="474980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limpeza</a:t>
              </a:r>
            </a:p>
            <a:p>
              <a:pPr algn="l" marL="474980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validações</a:t>
              </a:r>
            </a:p>
            <a:p>
              <a:pPr algn="l" marL="474980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geração de IDs</a:t>
              </a:r>
            </a:p>
            <a:p>
              <a:pPr algn="l">
                <a:lnSpc>
                  <a:spcPts val="30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048630" y="6546017"/>
            <a:ext cx="4329594" cy="1063155"/>
            <a:chOff x="0" y="0"/>
            <a:chExt cx="5772792" cy="1417539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66675"/>
              <a:ext cx="5772792" cy="589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b="true" sz="2600">
                  <a:solidFill>
                    <a:srgbClr val="222A9B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Carga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901935"/>
              <a:ext cx="5772792" cy="4807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0270" indent="-225135" lvl="1">
                <a:lnSpc>
                  <a:spcPts val="2919"/>
                </a:lnSpc>
                <a:buFont typeface="Arial"/>
                <a:buChar char="•"/>
              </a:pPr>
              <a:r>
                <a:rPr lang="en-US" sz="2085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ins</a:t>
              </a:r>
              <a:r>
                <a:rPr lang="en-US" sz="2085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erção ordenada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28700" y="4944239"/>
            <a:ext cx="1065433" cy="1067373"/>
          </a:xfrm>
          <a:custGeom>
            <a:avLst/>
            <a:gdLst/>
            <a:ahLst/>
            <a:cxnLst/>
            <a:rect r="r" b="b" t="t" l="l"/>
            <a:pathLst>
              <a:path h="1067373" w="1065433">
                <a:moveTo>
                  <a:pt x="0" y="0"/>
                </a:moveTo>
                <a:lnTo>
                  <a:pt x="1065433" y="0"/>
                </a:lnTo>
                <a:lnTo>
                  <a:pt x="1065433" y="1067374"/>
                </a:lnTo>
                <a:lnTo>
                  <a:pt x="0" y="10673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538665" y="4944239"/>
            <a:ext cx="1065433" cy="1067373"/>
          </a:xfrm>
          <a:custGeom>
            <a:avLst/>
            <a:gdLst/>
            <a:ahLst/>
            <a:cxnLst/>
            <a:rect r="r" b="b" t="t" l="l"/>
            <a:pathLst>
              <a:path h="1067373" w="1065433">
                <a:moveTo>
                  <a:pt x="0" y="0"/>
                </a:moveTo>
                <a:lnTo>
                  <a:pt x="1065433" y="0"/>
                </a:lnTo>
                <a:lnTo>
                  <a:pt x="1065433" y="1067374"/>
                </a:lnTo>
                <a:lnTo>
                  <a:pt x="0" y="10673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048630" y="4944239"/>
            <a:ext cx="1065433" cy="1067373"/>
          </a:xfrm>
          <a:custGeom>
            <a:avLst/>
            <a:gdLst/>
            <a:ahLst/>
            <a:cxnLst/>
            <a:rect r="r" b="b" t="t" l="l"/>
            <a:pathLst>
              <a:path h="1067373" w="1065433">
                <a:moveTo>
                  <a:pt x="0" y="0"/>
                </a:moveTo>
                <a:lnTo>
                  <a:pt x="1065433" y="0"/>
                </a:lnTo>
                <a:lnTo>
                  <a:pt x="1065433" y="1067374"/>
                </a:lnTo>
                <a:lnTo>
                  <a:pt x="0" y="10673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34499" y="2353668"/>
            <a:ext cx="269328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b="true" sz="2600">
                <a:solidFill>
                  <a:srgbClr val="222A9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857583" y="2420343"/>
            <a:ext cx="7273450" cy="1297305"/>
            <a:chOff x="0" y="0"/>
            <a:chExt cx="9697934" cy="172974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226397"/>
              <a:ext cx="9697934" cy="5033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66675"/>
              <a:ext cx="9697934" cy="11978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22A9B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Aplicar restrições para impedir valores impossíveis.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434499" y="3718680"/>
            <a:ext cx="282155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b="true" sz="2600">
                <a:solidFill>
                  <a:srgbClr val="222A9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57583" y="3756462"/>
            <a:ext cx="7273450" cy="1135380"/>
            <a:chOff x="0" y="0"/>
            <a:chExt cx="9697934" cy="151384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626322"/>
              <a:ext cx="9697934" cy="7782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44"/>
                </a:lnSpc>
              </a:pPr>
            </a:p>
            <a:p>
              <a:pPr algn="l">
                <a:lnSpc>
                  <a:spcPts val="2345"/>
                </a:lnSpc>
              </a:pP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66675"/>
              <a:ext cx="9697934" cy="588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22A9B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At</a:t>
              </a:r>
              <a:r>
                <a:rPr lang="en-US" sz="2600">
                  <a:solidFill>
                    <a:srgbClr val="222A9B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ributos obrigatórios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460152" y="4878983"/>
            <a:ext cx="282155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b="true" sz="2600">
                <a:solidFill>
                  <a:srgbClr val="222A9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896063" y="4891842"/>
            <a:ext cx="7273450" cy="840105"/>
            <a:chOff x="0" y="0"/>
            <a:chExt cx="9697934" cy="112014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616797"/>
              <a:ext cx="9697934" cy="5033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</a:pP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66675"/>
              <a:ext cx="9697934" cy="588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22A9B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A</a:t>
              </a:r>
              <a:r>
                <a:rPr lang="en-US" sz="2600">
                  <a:solidFill>
                    <a:srgbClr val="222A9B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tributos estatísticos opcionais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434499" y="6016591"/>
            <a:ext cx="307808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b="true" sz="2600">
                <a:solidFill>
                  <a:srgbClr val="222A9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4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896063" y="6054373"/>
            <a:ext cx="7273450" cy="840105"/>
            <a:chOff x="0" y="0"/>
            <a:chExt cx="9697934" cy="112014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635847"/>
              <a:ext cx="9697934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60"/>
                </a:lnSpc>
              </a:pP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-66675"/>
              <a:ext cx="9697934" cy="5780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34"/>
                </a:lnSpc>
              </a:pPr>
              <a:r>
                <a:rPr lang="en-US" sz="2525">
                  <a:solidFill>
                    <a:srgbClr val="222A9B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Ca</a:t>
              </a:r>
              <a:r>
                <a:rPr lang="en-US" sz="2525">
                  <a:solidFill>
                    <a:srgbClr val="222A9B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mpos de identificação obrigatória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8700" y="3919498"/>
            <a:ext cx="4962647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Trata</a:t>
            </a:r>
            <a:r>
              <a:rPr lang="en-US" sz="5000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mento e limpeza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95782" y="1576490"/>
            <a:ext cx="7766244" cy="6893381"/>
          </a:xfrm>
          <a:custGeom>
            <a:avLst/>
            <a:gdLst/>
            <a:ahLst/>
            <a:cxnLst/>
            <a:rect r="r" b="b" t="t" l="l"/>
            <a:pathLst>
              <a:path h="6893381" w="7766244">
                <a:moveTo>
                  <a:pt x="0" y="0"/>
                </a:moveTo>
                <a:lnTo>
                  <a:pt x="7766244" y="0"/>
                </a:lnTo>
                <a:lnTo>
                  <a:pt x="7766244" y="6893381"/>
                </a:lnTo>
                <a:lnTo>
                  <a:pt x="0" y="68933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919498"/>
            <a:ext cx="4962647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Trata</a:t>
            </a:r>
            <a:r>
              <a:rPr lang="en-US" sz="5000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mento e limpeza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102190" y="2771778"/>
            <a:ext cx="10496937" cy="4538219"/>
          </a:xfrm>
          <a:custGeom>
            <a:avLst/>
            <a:gdLst/>
            <a:ahLst/>
            <a:cxnLst/>
            <a:rect r="r" b="b" t="t" l="l"/>
            <a:pathLst>
              <a:path h="4538219" w="10496937">
                <a:moveTo>
                  <a:pt x="0" y="0"/>
                </a:moveTo>
                <a:lnTo>
                  <a:pt x="10496937" y="0"/>
                </a:lnTo>
                <a:lnTo>
                  <a:pt x="10496937" y="4538218"/>
                </a:lnTo>
                <a:lnTo>
                  <a:pt x="0" y="45382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23713" y="4096081"/>
            <a:ext cx="4962647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Estratégia de população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32683" y="-774656"/>
            <a:ext cx="8307453" cy="6337190"/>
          </a:xfrm>
          <a:custGeom>
            <a:avLst/>
            <a:gdLst/>
            <a:ahLst/>
            <a:cxnLst/>
            <a:rect r="r" b="b" t="t" l="l"/>
            <a:pathLst>
              <a:path h="6337190" w="8307453">
                <a:moveTo>
                  <a:pt x="0" y="0"/>
                </a:moveTo>
                <a:lnTo>
                  <a:pt x="8307454" y="0"/>
                </a:lnTo>
                <a:lnTo>
                  <a:pt x="8307454" y="6337190"/>
                </a:lnTo>
                <a:lnTo>
                  <a:pt x="0" y="63371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358375" y="3890087"/>
            <a:ext cx="5728349" cy="725170"/>
            <a:chOff x="0" y="0"/>
            <a:chExt cx="7637799" cy="966893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249767"/>
              <a:ext cx="216069" cy="216069"/>
              <a:chOff x="0" y="0"/>
              <a:chExt cx="6350000" cy="6350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222A9B"/>
              </a:solidFill>
            </p:spPr>
          </p:sp>
        </p:grpSp>
        <p:sp>
          <p:nvSpPr>
            <p:cNvPr name="TextBox 6" id="6"/>
            <p:cNvSpPr txBox="true"/>
            <p:nvPr/>
          </p:nvSpPr>
          <p:spPr>
            <a:xfrm rot="0">
              <a:off x="1123472" y="-57150"/>
              <a:ext cx="6514327" cy="10240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200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Ju</a:t>
              </a:r>
              <a:r>
                <a:rPr lang="en-US" sz="2200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pyter Notebook </a:t>
              </a:r>
              <a:r>
                <a:rPr lang="en-US" sz="2200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con</a:t>
              </a:r>
              <a:r>
                <a:rPr lang="en-US" sz="2200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ect</a:t>
              </a:r>
              <a:r>
                <a:rPr lang="en-US" sz="2200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a</a:t>
              </a:r>
              <a:r>
                <a:rPr lang="en-US" sz="2200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d</a:t>
              </a:r>
              <a:r>
                <a:rPr lang="en-US" sz="2200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o</a:t>
              </a:r>
              <a:r>
                <a:rPr lang="en-US" sz="2200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ao PostgreSQL via psycopg2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358375" y="5009384"/>
            <a:ext cx="5728349" cy="902335"/>
            <a:chOff x="0" y="0"/>
            <a:chExt cx="7637799" cy="1203113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249767"/>
              <a:ext cx="216069" cy="216069"/>
              <a:chOff x="0" y="0"/>
              <a:chExt cx="6350000" cy="6350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222A9B"/>
              </a:solidFill>
            </p:spPr>
          </p:sp>
        </p:grpSp>
        <p:sp>
          <p:nvSpPr>
            <p:cNvPr name="TextBox 10" id="10"/>
            <p:cNvSpPr txBox="true"/>
            <p:nvPr/>
          </p:nvSpPr>
          <p:spPr>
            <a:xfrm rot="0">
              <a:off x="1123472" y="-57150"/>
              <a:ext cx="6514327" cy="10240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Gráfic</a:t>
              </a: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o</a:t>
              </a: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</a:t>
              </a: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com Pan</a:t>
              </a: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d</a:t>
              </a: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as, Matplotl</a:t>
              </a: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i</a:t>
              </a: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b e Se</a:t>
              </a: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ab</a:t>
              </a: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o</a:t>
              </a: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r</a:t>
              </a: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358375" y="6302244"/>
            <a:ext cx="5536961" cy="1115695"/>
            <a:chOff x="0" y="0"/>
            <a:chExt cx="7382615" cy="1487593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115062"/>
              <a:ext cx="216069" cy="216069"/>
              <a:chOff x="0" y="0"/>
              <a:chExt cx="6350000" cy="6350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222A9B"/>
              </a:solidFill>
            </p:spPr>
          </p:sp>
        </p:grpSp>
        <p:sp>
          <p:nvSpPr>
            <p:cNvPr name="TextBox 14" id="14"/>
            <p:cNvSpPr txBox="true"/>
            <p:nvPr/>
          </p:nvSpPr>
          <p:spPr>
            <a:xfrm rot="0">
              <a:off x="804493" y="-57150"/>
              <a:ext cx="6578123" cy="15447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200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Recursos: agr</a:t>
              </a:r>
              <a:r>
                <a:rPr lang="en-US" sz="2200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</a:t>
              </a:r>
              <a:r>
                <a:rPr lang="en-US" sz="2200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g</a:t>
              </a:r>
              <a:r>
                <a:rPr lang="en-US" sz="2200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a</a:t>
              </a:r>
              <a:r>
                <a:rPr lang="en-US" sz="2200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çã</a:t>
              </a:r>
              <a:r>
                <a:rPr lang="en-US" sz="2200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o</a:t>
              </a:r>
              <a:r>
                <a:rPr lang="en-US" sz="2200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, JOINs, GROUP BY/HAVING, subquerys, CTE, Window function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137841">
            <a:off x="-3569617" y="6859192"/>
            <a:ext cx="8307453" cy="6337190"/>
          </a:xfrm>
          <a:custGeom>
            <a:avLst/>
            <a:gdLst/>
            <a:ahLst/>
            <a:cxnLst/>
            <a:rect r="r" b="b" t="t" l="l"/>
            <a:pathLst>
              <a:path h="6337190" w="8307453">
                <a:moveTo>
                  <a:pt x="0" y="0"/>
                </a:moveTo>
                <a:lnTo>
                  <a:pt x="8307454" y="0"/>
                </a:lnTo>
                <a:lnTo>
                  <a:pt x="8307454" y="6337190"/>
                </a:lnTo>
                <a:lnTo>
                  <a:pt x="0" y="63371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119975" y="1093043"/>
            <a:ext cx="9576530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Visão Geral da Análise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636636" y="3888948"/>
            <a:ext cx="5728349" cy="438912"/>
            <a:chOff x="0" y="0"/>
            <a:chExt cx="7637799" cy="585216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249767"/>
              <a:ext cx="216069" cy="216069"/>
              <a:chOff x="0" y="0"/>
              <a:chExt cx="6350000" cy="6350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222A9B"/>
              </a:solidFill>
            </p:spPr>
          </p:sp>
        </p:grpSp>
        <p:sp>
          <p:nvSpPr>
            <p:cNvPr name="TextBox 20" id="20"/>
            <p:cNvSpPr txBox="true"/>
            <p:nvPr/>
          </p:nvSpPr>
          <p:spPr>
            <a:xfrm rot="0">
              <a:off x="1123472" y="-57150"/>
              <a:ext cx="6514327" cy="5033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P1 — Fa</a:t>
              </a: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</a:t>
              </a: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or casa por estádio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636636" y="4756485"/>
            <a:ext cx="5728349" cy="725170"/>
            <a:chOff x="0" y="0"/>
            <a:chExt cx="7637799" cy="966893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249767"/>
              <a:ext cx="216069" cy="216069"/>
              <a:chOff x="0" y="0"/>
              <a:chExt cx="6350000" cy="6350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222A9B"/>
              </a:solidFill>
            </p:spPr>
          </p:sp>
        </p:grpSp>
        <p:sp>
          <p:nvSpPr>
            <p:cNvPr name="TextBox 24" id="24"/>
            <p:cNvSpPr txBox="true"/>
            <p:nvPr/>
          </p:nvSpPr>
          <p:spPr>
            <a:xfrm rot="0">
              <a:off x="1123472" y="-57150"/>
              <a:ext cx="6514327" cy="10240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200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P2</a:t>
              </a:r>
              <a:r>
                <a:rPr lang="en-US" sz="2200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— Eficiência ofensiva vs. valor do elenco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636636" y="5886384"/>
            <a:ext cx="5728349" cy="955675"/>
            <a:chOff x="0" y="0"/>
            <a:chExt cx="7637799" cy="1274233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249767"/>
              <a:ext cx="216069" cy="216069"/>
              <a:chOff x="0" y="0"/>
              <a:chExt cx="6350000" cy="63500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222A9B"/>
              </a:solidFill>
            </p:spPr>
          </p:sp>
        </p:grpSp>
        <p:sp>
          <p:nvSpPr>
            <p:cNvPr name="TextBox 28" id="28"/>
            <p:cNvSpPr txBox="true"/>
            <p:nvPr/>
          </p:nvSpPr>
          <p:spPr>
            <a:xfrm rot="0">
              <a:off x="1123472" y="-57150"/>
              <a:ext cx="6514327" cy="10240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P3</a:t>
              </a: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— P</a:t>
              </a: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</a:t>
              </a: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rf</a:t>
              </a: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i</a:t>
              </a: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l dos árbitros (faltas por partida)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2283365" y="3202436"/>
            <a:ext cx="3423603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Ambiente e recursos SQL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625444" y="3166318"/>
            <a:ext cx="3445986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As 4 perguntas analíticas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636636" y="6958343"/>
            <a:ext cx="5728349" cy="955675"/>
            <a:chOff x="0" y="0"/>
            <a:chExt cx="7637799" cy="1274233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249767"/>
              <a:ext cx="216069" cy="216069"/>
              <a:chOff x="0" y="0"/>
              <a:chExt cx="6350000" cy="63500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222A9B"/>
              </a:solidFill>
            </p:spPr>
          </p:sp>
        </p:grpSp>
        <p:sp>
          <p:nvSpPr>
            <p:cNvPr name="TextBox 34" id="34"/>
            <p:cNvSpPr txBox="true"/>
            <p:nvPr/>
          </p:nvSpPr>
          <p:spPr>
            <a:xfrm rot="0">
              <a:off x="1123472" y="-57150"/>
              <a:ext cx="6514327" cy="10240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P4</a:t>
              </a: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— Juv</a:t>
              </a: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entu</a:t>
              </a: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de × experiência na colocação final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32683" y="-774656"/>
            <a:ext cx="8307453" cy="6337190"/>
          </a:xfrm>
          <a:custGeom>
            <a:avLst/>
            <a:gdLst/>
            <a:ahLst/>
            <a:cxnLst/>
            <a:rect r="r" b="b" t="t" l="l"/>
            <a:pathLst>
              <a:path h="6337190" w="8307453">
                <a:moveTo>
                  <a:pt x="0" y="0"/>
                </a:moveTo>
                <a:lnTo>
                  <a:pt x="8307454" y="0"/>
                </a:lnTo>
                <a:lnTo>
                  <a:pt x="8307454" y="6337190"/>
                </a:lnTo>
                <a:lnTo>
                  <a:pt x="0" y="63371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193395" y="3358619"/>
            <a:ext cx="5728349" cy="1115695"/>
            <a:chOff x="0" y="0"/>
            <a:chExt cx="7637799" cy="1487593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249767"/>
              <a:ext cx="216069" cy="216069"/>
              <a:chOff x="0" y="0"/>
              <a:chExt cx="6350000" cy="6350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222A9B"/>
              </a:solidFill>
            </p:spPr>
          </p:sp>
        </p:grpSp>
        <p:sp>
          <p:nvSpPr>
            <p:cNvPr name="TextBox 6" id="6"/>
            <p:cNvSpPr txBox="true"/>
            <p:nvPr/>
          </p:nvSpPr>
          <p:spPr>
            <a:xfrm rot="0">
              <a:off x="1123472" y="-57150"/>
              <a:ext cx="6514327" cy="15447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200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Van</a:t>
              </a:r>
              <a:r>
                <a:rPr lang="en-US" sz="2200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tagem ofe</a:t>
              </a:r>
              <a:r>
                <a:rPr lang="en-US" sz="2200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nsiva </a:t>
              </a:r>
              <a:r>
                <a:rPr lang="en-US" sz="2200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d</a:t>
              </a:r>
              <a:r>
                <a:rPr lang="en-US" sz="2200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o</a:t>
              </a:r>
              <a:r>
                <a:rPr lang="en-US" sz="2200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mandante (mín. 10 jogos) — barras agrupadas mandante × visitante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137841">
            <a:off x="-3569617" y="6859192"/>
            <a:ext cx="8307453" cy="6337190"/>
          </a:xfrm>
          <a:custGeom>
            <a:avLst/>
            <a:gdLst/>
            <a:ahLst/>
            <a:cxnLst/>
            <a:rect r="r" b="b" t="t" l="l"/>
            <a:pathLst>
              <a:path h="6337190" w="8307453">
                <a:moveTo>
                  <a:pt x="0" y="0"/>
                </a:moveTo>
                <a:lnTo>
                  <a:pt x="8307454" y="0"/>
                </a:lnTo>
                <a:lnTo>
                  <a:pt x="8307454" y="6337190"/>
                </a:lnTo>
                <a:lnTo>
                  <a:pt x="0" y="63371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636636" y="3357481"/>
            <a:ext cx="5728349" cy="1205230"/>
            <a:chOff x="0" y="0"/>
            <a:chExt cx="7637799" cy="1606973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249767"/>
              <a:ext cx="216069" cy="216069"/>
              <a:chOff x="0" y="0"/>
              <a:chExt cx="6350000" cy="6350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222A9B"/>
              </a:solidFill>
            </p:spPr>
          </p:sp>
        </p:grpSp>
        <p:sp>
          <p:nvSpPr>
            <p:cNvPr name="TextBox 11" id="11"/>
            <p:cNvSpPr txBox="true"/>
            <p:nvPr/>
          </p:nvSpPr>
          <p:spPr>
            <a:xfrm rot="0">
              <a:off x="1123472" y="-57150"/>
              <a:ext cx="6514327" cy="15447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Chutes por gol em função do val</a:t>
              </a: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or médio do elenco (CTE) — gráfico de dispersão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748289" y="5460576"/>
            <a:ext cx="8159951" cy="3442479"/>
          </a:xfrm>
          <a:custGeom>
            <a:avLst/>
            <a:gdLst/>
            <a:ahLst/>
            <a:cxnLst/>
            <a:rect r="r" b="b" t="t" l="l"/>
            <a:pathLst>
              <a:path h="3442479" w="8159951">
                <a:moveTo>
                  <a:pt x="0" y="0"/>
                </a:moveTo>
                <a:lnTo>
                  <a:pt x="8159951" y="0"/>
                </a:lnTo>
                <a:lnTo>
                  <a:pt x="8159951" y="3442479"/>
                </a:lnTo>
                <a:lnTo>
                  <a:pt x="0" y="34424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636636" y="4932772"/>
            <a:ext cx="7322817" cy="5050219"/>
          </a:xfrm>
          <a:custGeom>
            <a:avLst/>
            <a:gdLst/>
            <a:ahLst/>
            <a:cxnLst/>
            <a:rect r="r" b="b" t="t" l="l"/>
            <a:pathLst>
              <a:path h="5050219" w="7322817">
                <a:moveTo>
                  <a:pt x="0" y="0"/>
                </a:moveTo>
                <a:lnTo>
                  <a:pt x="7322817" y="0"/>
                </a:lnTo>
                <a:lnTo>
                  <a:pt x="7322817" y="5050219"/>
                </a:lnTo>
                <a:lnTo>
                  <a:pt x="0" y="50502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119975" y="1093043"/>
            <a:ext cx="9576530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Perguntas 1 e 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93395" y="2670968"/>
            <a:ext cx="3505835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P1</a:t>
            </a:r>
            <a:r>
              <a:rPr lang="en-US" sz="2299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 · Fator casa por estádio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36636" y="2670968"/>
            <a:ext cx="4424521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P2</a:t>
            </a:r>
            <a:r>
              <a:rPr lang="en-US" sz="2299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 · Eficiência vs. valor do elenco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32683" y="-774656"/>
            <a:ext cx="8307453" cy="6337190"/>
          </a:xfrm>
          <a:custGeom>
            <a:avLst/>
            <a:gdLst/>
            <a:ahLst/>
            <a:cxnLst/>
            <a:rect r="r" b="b" t="t" l="l"/>
            <a:pathLst>
              <a:path h="6337190" w="8307453">
                <a:moveTo>
                  <a:pt x="0" y="0"/>
                </a:moveTo>
                <a:lnTo>
                  <a:pt x="8307454" y="0"/>
                </a:lnTo>
                <a:lnTo>
                  <a:pt x="8307454" y="6337190"/>
                </a:lnTo>
                <a:lnTo>
                  <a:pt x="0" y="63371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51623" y="3350618"/>
            <a:ext cx="5728349" cy="725170"/>
            <a:chOff x="0" y="0"/>
            <a:chExt cx="7637799" cy="966893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249767"/>
              <a:ext cx="216069" cy="216069"/>
              <a:chOff x="0" y="0"/>
              <a:chExt cx="6350000" cy="6350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222A9B"/>
              </a:solidFill>
            </p:spPr>
          </p:sp>
        </p:grpSp>
        <p:sp>
          <p:nvSpPr>
            <p:cNvPr name="TextBox 6" id="6"/>
            <p:cNvSpPr txBox="true"/>
            <p:nvPr/>
          </p:nvSpPr>
          <p:spPr>
            <a:xfrm rot="0">
              <a:off x="1123472" y="-57150"/>
              <a:ext cx="6514327" cy="10240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200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Média de fal</a:t>
              </a:r>
              <a:r>
                <a:rPr lang="en-US" sz="2200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tas por part</a:t>
              </a:r>
              <a:r>
                <a:rPr lang="en-US" sz="2200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ida vs.</a:t>
              </a:r>
              <a:r>
                <a:rPr lang="en-US" sz="2200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média geral  — barras horizontais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137841">
            <a:off x="-3569617" y="6859192"/>
            <a:ext cx="8307453" cy="6337190"/>
          </a:xfrm>
          <a:custGeom>
            <a:avLst/>
            <a:gdLst/>
            <a:ahLst/>
            <a:cxnLst/>
            <a:rect r="r" b="b" t="t" l="l"/>
            <a:pathLst>
              <a:path h="6337190" w="8307453">
                <a:moveTo>
                  <a:pt x="0" y="0"/>
                </a:moveTo>
                <a:lnTo>
                  <a:pt x="8307454" y="0"/>
                </a:lnTo>
                <a:lnTo>
                  <a:pt x="8307454" y="6337190"/>
                </a:lnTo>
                <a:lnTo>
                  <a:pt x="0" y="63371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529884" y="3349480"/>
            <a:ext cx="5728349" cy="1205230"/>
            <a:chOff x="0" y="0"/>
            <a:chExt cx="7637799" cy="1606973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249767"/>
              <a:ext cx="216069" cy="216069"/>
              <a:chOff x="0" y="0"/>
              <a:chExt cx="6350000" cy="6350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222A9B"/>
              </a:solidFill>
            </p:spPr>
          </p:sp>
        </p:grpSp>
        <p:sp>
          <p:nvSpPr>
            <p:cNvPr name="TextBox 11" id="11"/>
            <p:cNvSpPr txBox="true"/>
            <p:nvPr/>
          </p:nvSpPr>
          <p:spPr>
            <a:xfrm rot="0">
              <a:off x="1123472" y="-57150"/>
              <a:ext cx="6514327" cy="15447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Idade média do titula</a:t>
              </a: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r por colocação — linha com banda; dados refutam a correlação (~27 anos)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042760" y="4554710"/>
            <a:ext cx="5637507" cy="5055632"/>
          </a:xfrm>
          <a:custGeom>
            <a:avLst/>
            <a:gdLst/>
            <a:ahLst/>
            <a:cxnLst/>
            <a:rect r="r" b="b" t="t" l="l"/>
            <a:pathLst>
              <a:path h="5055632" w="5637507">
                <a:moveTo>
                  <a:pt x="0" y="0"/>
                </a:moveTo>
                <a:lnTo>
                  <a:pt x="5637507" y="0"/>
                </a:lnTo>
                <a:lnTo>
                  <a:pt x="5637507" y="5055633"/>
                </a:lnTo>
                <a:lnTo>
                  <a:pt x="0" y="50556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940610" y="5024764"/>
            <a:ext cx="8784896" cy="4330583"/>
          </a:xfrm>
          <a:custGeom>
            <a:avLst/>
            <a:gdLst/>
            <a:ahLst/>
            <a:cxnLst/>
            <a:rect r="r" b="b" t="t" l="l"/>
            <a:pathLst>
              <a:path h="4330583" w="8784896">
                <a:moveTo>
                  <a:pt x="0" y="0"/>
                </a:moveTo>
                <a:lnTo>
                  <a:pt x="8784896" y="0"/>
                </a:lnTo>
                <a:lnTo>
                  <a:pt x="8784896" y="4330583"/>
                </a:lnTo>
                <a:lnTo>
                  <a:pt x="0" y="43305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119975" y="1093043"/>
            <a:ext cx="9576530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Perguntas 3 e 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51623" y="2662968"/>
            <a:ext cx="3000216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P3</a:t>
            </a:r>
            <a:r>
              <a:rPr lang="en-US" sz="2299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 · Perfil dos árbitros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29884" y="2662968"/>
            <a:ext cx="3803174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P4</a:t>
            </a:r>
            <a:r>
              <a:rPr lang="en-US" sz="2299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 · Juventude × experiência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19975" y="1093043"/>
            <a:ext cx="9576530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222A9B"/>
                </a:solidFill>
                <a:latin typeface="Public Sans"/>
                <a:ea typeface="Public Sans"/>
                <a:cs typeface="Public Sans"/>
                <a:sym typeface="Public Sans"/>
              </a:rPr>
              <a:t>Referências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894654" y="3588715"/>
            <a:ext cx="12498692" cy="725170"/>
            <a:chOff x="0" y="0"/>
            <a:chExt cx="16664923" cy="966893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249767"/>
              <a:ext cx="216069" cy="216069"/>
              <a:chOff x="0" y="0"/>
              <a:chExt cx="6350000" cy="6350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222A9B"/>
              </a:solidFill>
            </p:spPr>
          </p:sp>
        </p:grpSp>
        <p:sp>
          <p:nvSpPr>
            <p:cNvPr name="TextBox 6" id="6"/>
            <p:cNvSpPr txBox="true"/>
            <p:nvPr/>
          </p:nvSpPr>
          <p:spPr>
            <a:xfrm rot="0">
              <a:off x="1123472" y="-57150"/>
              <a:ext cx="15541451" cy="10240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CAMPEONATO BRASILEIRO SÉRIE A (2003–2024). Base de dados utilizada no trabalho. Disponível em: </a:t>
              </a:r>
              <a:r>
                <a:rPr lang="en-US" sz="2199" u="sng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  <a:hlinkClick r:id="rId2" tooltip="https://www.kaggle.com/datasets"/>
                </a:rPr>
                <a:t>https://www.kaggle.com/datasets</a:t>
              </a: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. Acesso em: 20 jun. 2026.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894654" y="5143500"/>
            <a:ext cx="12498692" cy="1115695"/>
            <a:chOff x="0" y="0"/>
            <a:chExt cx="16664923" cy="1487593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249767"/>
              <a:ext cx="216069" cy="216069"/>
              <a:chOff x="0" y="0"/>
              <a:chExt cx="6350000" cy="6350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222A9B"/>
              </a:solidFill>
            </p:spPr>
          </p:sp>
        </p:grpSp>
        <p:sp>
          <p:nvSpPr>
            <p:cNvPr name="TextBox 10" id="10"/>
            <p:cNvSpPr txBox="true"/>
            <p:nvPr/>
          </p:nvSpPr>
          <p:spPr>
            <a:xfrm rot="0">
              <a:off x="1123472" y="-57150"/>
              <a:ext cx="15541451" cy="15447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OPENAI. ChatGPT (modelo GPT-5.5 – utilizado exclusivamente como auxílio na elaboração dos slides da apresentação). Disponível em: </a:t>
              </a:r>
              <a:r>
                <a:rPr lang="en-US" sz="2199" u="sng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  <a:hlinkClick r:id="rId3" tooltip="https://chatgpt.com/pt-BR/overview/?utm_source=chatgpt.com"/>
                </a:rPr>
                <a:t>ChatGPT</a:t>
              </a:r>
              <a:r>
                <a:rPr lang="en-US" sz="2199">
                  <a:solidFill>
                    <a:srgbClr val="343434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. Acesso em: 25 jun. 2026.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DAHNmg-TCM8</dc:identifier>
  <dcterms:modified xsi:type="dcterms:W3CDTF">2011-08-01T06:04:30Z</dcterms:modified>
  <cp:revision>1</cp:revision>
  <dc:title>TP - IBD</dc:title>
</cp:coreProperties>
</file>